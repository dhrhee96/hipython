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월마트 매출 예측 모델 고도화 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수치해석적 최적화와 Data-Centric 전략</a:t>
            </a:r>
          </a:p>
          <a:p/>
          <a:p>
            <a:r>
              <a:t>작성자: 데이터 분석팀 (수치해석 전공)</a:t>
            </a:r>
          </a:p>
          <a:p>
            <a:r>
              <a:t>2026년 2월 11일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연구 목적: 월마트 블랙프라이데이 데이터 기반 구매 금액 예측</a:t>
            </a:r>
          </a:p>
          <a:p>
            <a:pPr/>
            <a:r>
              <a:t>핵심 과제:</a:t>
            </a:r>
          </a:p>
          <a:p>
            <a:pPr lvl="1"/>
            <a:r>
              <a:t>High Cardinality(Product_ID) 변수의 효과적 처리</a:t>
            </a:r>
          </a:p>
          <a:p>
            <a:pPr lvl="1"/>
            <a:r>
              <a:t>결측값 및 신규 상품(Cold Start)에 대한 강건성 확보</a:t>
            </a:r>
          </a:p>
          <a:p>
            <a:pPr lvl="1"/>
            <a:r>
              <a:t>수치해석적 기법(Gradient Boosting)을 통한 최적화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연구 가설 및 검증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H1 (인구통계 영향력): 기각</a:t>
            </a:r>
          </a:p>
          <a:p>
            <a:pPr lvl="1"/>
            <a:r>
              <a:t>사용자의 나이, 성별은 가격 결정에 큰 영향을 주지 않을 것이다.</a:t>
            </a:r>
          </a:p>
          <a:p>
            <a:pPr/>
            <a:r>
              <a:t>H2 (상품 가치 지배력): 채택</a:t>
            </a:r>
          </a:p>
          <a:p>
            <a:pPr lvl="1"/>
            <a:r>
              <a:t>구매 금액은 '무엇을 샀는가(Product Value)'에 의해 결정될 것이다.</a:t>
            </a:r>
          </a:p>
          <a:p>
            <a:pPr/>
            <a:r>
              <a:t>H3 (직교성 확보): 채택</a:t>
            </a:r>
          </a:p>
          <a:p>
            <a:pPr lvl="1"/>
            <a:r>
              <a:t>K-Fold Target Encoding은 타겟 노이즈와 직교(Orthogonal)하여 과적합을 막을 것이다.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모델링 방법론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Engineering: K-Fold Target Encoding</a:t>
            </a:r>
          </a:p>
          <a:p>
            <a:pPr lvl="1"/>
            <a:r>
              <a:t>Data Leakage 방지를 위해 Out-of-Fold 평균 사용</a:t>
            </a:r>
          </a:p>
          <a:p>
            <a:pPr lvl="1"/>
            <a:r>
              <a:t>수식: x_hat_i = Mean(Target) of {Data - Fold_k}</a:t>
            </a:r>
          </a:p>
          <a:p>
            <a:pPr/>
          </a:p>
          <a:p>
            <a:pPr/>
            <a:r>
              <a:t>Algorithm: XGBoost (eXtreme Gradient Boosting)</a:t>
            </a:r>
          </a:p>
          <a:p>
            <a:pPr lvl="1"/>
            <a:r>
              <a:t>손실 함수의 2차 미분(Hessian) 활용</a:t>
            </a:r>
          </a:p>
          <a:p>
            <a:pPr lvl="1"/>
            <a:r>
              <a:t>정규화(L1, L2) 파라미터를 통한 일반화 성능 극대화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모델 성능 평가 결과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9144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 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R²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Baseline (RF)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Basic Label Encoding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Advanced (XGB)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K-Fold TE + Tuning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상세 분석: 시각화</a:t>
            </a:r>
          </a:p>
        </p:txBody>
      </p:sp>
      <p:pic>
        <p:nvPicPr>
          <p:cNvPr id="3" name="Picture 2" descr="ppt_chart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114800" cy="2743200"/>
          </a:xfrm>
          <a:prstGeom prst="rect">
            <a:avLst/>
          </a:prstGeom>
        </p:spPr>
      </p:pic>
      <p:pic>
        <p:nvPicPr>
          <p:cNvPr id="4" name="Picture 3" descr="ppt_chart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28800"/>
            <a:ext cx="41148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Insight: Product_ID 변수의 영향력이 절대적이며(좌), 예측값은 실제 정가(Ideal Fit)를 따름(우).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원인 분석 (Root Cause)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가격 경직성 (Price Rigidity)</a:t>
            </a:r>
          </a:p>
          <a:p>
            <a:pPr lvl="1"/>
            <a:r>
              <a:t>마트 상품 가격은 정찰제로 운영됨 (Fixed Price).</a:t>
            </a:r>
          </a:p>
          <a:p>
            <a:pPr lvl="1"/>
            <a:r>
              <a:t>사용자 특성(나이, 성별)에 따른 가격 변동(Variance)이 거의 없음.</a:t>
            </a:r>
          </a:p>
          <a:p>
            <a:pPr/>
          </a:p>
          <a:p>
            <a:pPr/>
            <a:r>
              <a:t>한계점</a:t>
            </a:r>
          </a:p>
          <a:p>
            <a:pPr lvl="1"/>
            <a:r>
              <a:t>현재 데이터만으로는 '할인'이나 '프로모션'에 의한 미세 변동 설명 불가.</a:t>
            </a:r>
          </a:p>
          <a:p>
            <a:pPr lvl="1"/>
            <a:r>
              <a:t>알고리즘 튜닝은 한계 효용에 도달함.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결론 및 향후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결론: Robust Baseline 확보</a:t>
            </a:r>
          </a:p>
          <a:p>
            <a:pPr lvl="1"/>
            <a:r>
              <a:t>신규 상품 유입 시에도 인구통계 정보를 이용한 보간(Interpolation) 가능.</a:t>
            </a:r>
          </a:p>
          <a:p>
            <a:pPr/>
          </a:p>
          <a:p>
            <a:pPr/>
            <a:r>
              <a:t>Data-Centric Strategy 제안 (R² &gt; 0.8 목표)</a:t>
            </a:r>
          </a:p>
          <a:p>
            <a:pPr lvl="1"/>
            <a:r>
              <a:t>1. 할인율(Discount Rate) 데이터 확보</a:t>
            </a:r>
          </a:p>
          <a:p>
            <a:pPr lvl="1"/>
            <a:r>
              <a:t>2. 시계열(Time Series) 변수 추가 (월초/월말, 공휴일)</a:t>
            </a:r>
          </a:p>
          <a:p>
            <a:pPr lvl="1"/>
            <a:r>
              <a:t>3. 유저 프로파일링(User History) 변수 생성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